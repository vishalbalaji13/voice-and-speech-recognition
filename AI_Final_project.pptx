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1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72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DB97AC-D0DE-4891-A46C-9859DA8FF46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E8821CA-82DB-4575-A670-92DF81E898A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dirty="0"/>
            <a:t>1. The model successfully transcribes both pre-recorded and real-time audio.</a:t>
          </a:r>
        </a:p>
      </dgm:t>
    </dgm:pt>
    <dgm:pt modelId="{F77FC329-5B73-4850-8473-752D669A20DC}" type="parTrans" cxnId="{3CE21CCA-9DEE-44D8-A70C-82E8595F4C21}">
      <dgm:prSet/>
      <dgm:spPr/>
      <dgm:t>
        <a:bodyPr/>
        <a:lstStyle/>
        <a:p>
          <a:endParaRPr lang="en-US"/>
        </a:p>
      </dgm:t>
    </dgm:pt>
    <dgm:pt modelId="{A46DD6B7-5153-4825-BEA1-4D03ECD09A6E}" type="sibTrans" cxnId="{3CE21CCA-9DEE-44D8-A70C-82E8595F4C21}">
      <dgm:prSet/>
      <dgm:spPr/>
      <dgm:t>
        <a:bodyPr/>
        <a:lstStyle/>
        <a:p>
          <a:endParaRPr lang="en-US"/>
        </a:p>
      </dgm:t>
    </dgm:pt>
    <dgm:pt modelId="{FDA9D1BF-C974-42D8-9A72-78B8A609DB5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2. Achieved a Word Error Rate (WER) of less than 10% on test samples.</a:t>
          </a:r>
        </a:p>
      </dgm:t>
    </dgm:pt>
    <dgm:pt modelId="{88787F3C-C569-445B-A68F-B88ECB17EEB6}" type="parTrans" cxnId="{B8431DA9-314E-490C-AF87-1A2F7F7BF796}">
      <dgm:prSet/>
      <dgm:spPr/>
      <dgm:t>
        <a:bodyPr/>
        <a:lstStyle/>
        <a:p>
          <a:endParaRPr lang="en-US"/>
        </a:p>
      </dgm:t>
    </dgm:pt>
    <dgm:pt modelId="{43C162C0-95ED-46C9-BBF4-4B8B6CB10F21}" type="sibTrans" cxnId="{B8431DA9-314E-490C-AF87-1A2F7F7BF796}">
      <dgm:prSet/>
      <dgm:spPr/>
      <dgm:t>
        <a:bodyPr/>
        <a:lstStyle/>
        <a:p>
          <a:endParaRPr lang="en-US"/>
        </a:p>
      </dgm:t>
    </dgm:pt>
    <dgm:pt modelId="{ED29C2C2-57F6-4632-A636-C588EBA5897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3. Real-time audio transcription using a microphone shows promising accuracy.</a:t>
          </a:r>
        </a:p>
      </dgm:t>
    </dgm:pt>
    <dgm:pt modelId="{00276C86-85F4-4076-92AF-8794C47AAEDB}" type="parTrans" cxnId="{D44B2E63-4FB1-4C7F-81DA-7EAA369556F5}">
      <dgm:prSet/>
      <dgm:spPr/>
      <dgm:t>
        <a:bodyPr/>
        <a:lstStyle/>
        <a:p>
          <a:endParaRPr lang="en-US"/>
        </a:p>
      </dgm:t>
    </dgm:pt>
    <dgm:pt modelId="{8736B685-4C38-40DB-A086-DD84CFDE6095}" type="sibTrans" cxnId="{D44B2E63-4FB1-4C7F-81DA-7EAA369556F5}">
      <dgm:prSet/>
      <dgm:spPr/>
      <dgm:t>
        <a:bodyPr/>
        <a:lstStyle/>
        <a:p>
          <a:endParaRPr lang="en-US"/>
        </a:p>
      </dgm:t>
    </dgm:pt>
    <dgm:pt modelId="{F950A510-2163-4C9C-9CD1-8C80B188B6D5}" type="pres">
      <dgm:prSet presAssocID="{6DDB97AC-D0DE-4891-A46C-9859DA8FF460}" presName="root" presStyleCnt="0">
        <dgm:presLayoutVars>
          <dgm:dir/>
          <dgm:resizeHandles val="exact"/>
        </dgm:presLayoutVars>
      </dgm:prSet>
      <dgm:spPr/>
    </dgm:pt>
    <dgm:pt modelId="{2727799B-649A-465B-9FAF-22132782015D}" type="pres">
      <dgm:prSet presAssocID="{4E8821CA-82DB-4575-A670-92DF81E898AD}" presName="compNode" presStyleCnt="0"/>
      <dgm:spPr/>
    </dgm:pt>
    <dgm:pt modelId="{6E08956B-4CB6-4A99-A26D-6F46069D80BF}" type="pres">
      <dgm:prSet presAssocID="{4E8821CA-82DB-4575-A670-92DF81E898A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B3561E0-D945-4876-8479-C070418FE003}" type="pres">
      <dgm:prSet presAssocID="{4E8821CA-82DB-4575-A670-92DF81E898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A7081CB-55A5-47C8-B4AA-615B21C0F31C}" type="pres">
      <dgm:prSet presAssocID="{4E8821CA-82DB-4575-A670-92DF81E898AD}" presName="spaceRect" presStyleCnt="0"/>
      <dgm:spPr/>
    </dgm:pt>
    <dgm:pt modelId="{7BF92B2F-BC53-411F-8AE9-D08385F50088}" type="pres">
      <dgm:prSet presAssocID="{4E8821CA-82DB-4575-A670-92DF81E898AD}" presName="textRect" presStyleLbl="revTx" presStyleIdx="0" presStyleCnt="3">
        <dgm:presLayoutVars>
          <dgm:chMax val="1"/>
          <dgm:chPref val="1"/>
        </dgm:presLayoutVars>
      </dgm:prSet>
      <dgm:spPr/>
    </dgm:pt>
    <dgm:pt modelId="{5A44A122-0E6E-4B47-9406-EE93AA6B7CE4}" type="pres">
      <dgm:prSet presAssocID="{A46DD6B7-5153-4825-BEA1-4D03ECD09A6E}" presName="sibTrans" presStyleCnt="0"/>
      <dgm:spPr/>
    </dgm:pt>
    <dgm:pt modelId="{101000A6-D0C8-41FD-8452-35A277B0DAEA}" type="pres">
      <dgm:prSet presAssocID="{FDA9D1BF-C974-42D8-9A72-78B8A609DB5C}" presName="compNode" presStyleCnt="0"/>
      <dgm:spPr/>
    </dgm:pt>
    <dgm:pt modelId="{4B6E0BD5-3348-414B-A3BE-BCDA3A82995C}" type="pres">
      <dgm:prSet presAssocID="{FDA9D1BF-C974-42D8-9A72-78B8A609DB5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0CA0026-C4EF-4993-A6A6-8322377B673C}" type="pres">
      <dgm:prSet presAssocID="{FDA9D1BF-C974-42D8-9A72-78B8A609DB5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4920655E-0F4D-4462-8E0B-4747DED3AEAD}" type="pres">
      <dgm:prSet presAssocID="{FDA9D1BF-C974-42D8-9A72-78B8A609DB5C}" presName="spaceRect" presStyleCnt="0"/>
      <dgm:spPr/>
    </dgm:pt>
    <dgm:pt modelId="{B0EDA373-0195-4062-8465-A92DEAE97120}" type="pres">
      <dgm:prSet presAssocID="{FDA9D1BF-C974-42D8-9A72-78B8A609DB5C}" presName="textRect" presStyleLbl="revTx" presStyleIdx="1" presStyleCnt="3">
        <dgm:presLayoutVars>
          <dgm:chMax val="1"/>
          <dgm:chPref val="1"/>
        </dgm:presLayoutVars>
      </dgm:prSet>
      <dgm:spPr/>
    </dgm:pt>
    <dgm:pt modelId="{42ABC970-F531-425C-80C0-AEE7C70F4D2B}" type="pres">
      <dgm:prSet presAssocID="{43C162C0-95ED-46C9-BBF4-4B8B6CB10F21}" presName="sibTrans" presStyleCnt="0"/>
      <dgm:spPr/>
    </dgm:pt>
    <dgm:pt modelId="{64F60827-D35B-46E8-94B7-44D8EC646323}" type="pres">
      <dgm:prSet presAssocID="{ED29C2C2-57F6-4632-A636-C588EBA58972}" presName="compNode" presStyleCnt="0"/>
      <dgm:spPr/>
    </dgm:pt>
    <dgm:pt modelId="{90A7EAF5-0475-445C-9131-A4BAE72ABFE0}" type="pres">
      <dgm:prSet presAssocID="{ED29C2C2-57F6-4632-A636-C588EBA5897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9956029-5A98-4816-BCBA-FA2AF0C382E4}" type="pres">
      <dgm:prSet presAssocID="{ED29C2C2-57F6-4632-A636-C588EBA5897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F936E9AD-00E1-47E4-8EF7-2DFFAD5DB032}" type="pres">
      <dgm:prSet presAssocID="{ED29C2C2-57F6-4632-A636-C588EBA58972}" presName="spaceRect" presStyleCnt="0"/>
      <dgm:spPr/>
    </dgm:pt>
    <dgm:pt modelId="{BB454E6D-DCA0-4956-BE28-200E01527B6B}" type="pres">
      <dgm:prSet presAssocID="{ED29C2C2-57F6-4632-A636-C588EBA5897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0CE2B42-6A5A-4AB1-848C-CF199A740A0C}" type="presOf" srcId="{FDA9D1BF-C974-42D8-9A72-78B8A609DB5C}" destId="{B0EDA373-0195-4062-8465-A92DEAE97120}" srcOrd="0" destOrd="0" presId="urn:microsoft.com/office/officeart/2018/5/layout/IconLeafLabelList"/>
    <dgm:cxn modelId="{D44B2E63-4FB1-4C7F-81DA-7EAA369556F5}" srcId="{6DDB97AC-D0DE-4891-A46C-9859DA8FF460}" destId="{ED29C2C2-57F6-4632-A636-C588EBA58972}" srcOrd="2" destOrd="0" parTransId="{00276C86-85F4-4076-92AF-8794C47AAEDB}" sibTransId="{8736B685-4C38-40DB-A086-DD84CFDE6095}"/>
    <dgm:cxn modelId="{C25E9572-1F8F-4949-BCFE-4ED90E079A44}" type="presOf" srcId="{4E8821CA-82DB-4575-A670-92DF81E898AD}" destId="{7BF92B2F-BC53-411F-8AE9-D08385F50088}" srcOrd="0" destOrd="0" presId="urn:microsoft.com/office/officeart/2018/5/layout/IconLeafLabelList"/>
    <dgm:cxn modelId="{B8431DA9-314E-490C-AF87-1A2F7F7BF796}" srcId="{6DDB97AC-D0DE-4891-A46C-9859DA8FF460}" destId="{FDA9D1BF-C974-42D8-9A72-78B8A609DB5C}" srcOrd="1" destOrd="0" parTransId="{88787F3C-C569-445B-A68F-B88ECB17EEB6}" sibTransId="{43C162C0-95ED-46C9-BBF4-4B8B6CB10F21}"/>
    <dgm:cxn modelId="{DF6123AB-9463-466A-B15A-8181D39C4642}" type="presOf" srcId="{ED29C2C2-57F6-4632-A636-C588EBA58972}" destId="{BB454E6D-DCA0-4956-BE28-200E01527B6B}" srcOrd="0" destOrd="0" presId="urn:microsoft.com/office/officeart/2018/5/layout/IconLeafLabelList"/>
    <dgm:cxn modelId="{FA1359BF-C147-41E7-8F19-C53FD2BDF9E5}" type="presOf" srcId="{6DDB97AC-D0DE-4891-A46C-9859DA8FF460}" destId="{F950A510-2163-4C9C-9CD1-8C80B188B6D5}" srcOrd="0" destOrd="0" presId="urn:microsoft.com/office/officeart/2018/5/layout/IconLeafLabelList"/>
    <dgm:cxn modelId="{3CE21CCA-9DEE-44D8-A70C-82E8595F4C21}" srcId="{6DDB97AC-D0DE-4891-A46C-9859DA8FF460}" destId="{4E8821CA-82DB-4575-A670-92DF81E898AD}" srcOrd="0" destOrd="0" parTransId="{F77FC329-5B73-4850-8473-752D669A20DC}" sibTransId="{A46DD6B7-5153-4825-BEA1-4D03ECD09A6E}"/>
    <dgm:cxn modelId="{EC5E8F0C-784F-4566-BFAA-409F201CD12E}" type="presParOf" srcId="{F950A510-2163-4C9C-9CD1-8C80B188B6D5}" destId="{2727799B-649A-465B-9FAF-22132782015D}" srcOrd="0" destOrd="0" presId="urn:microsoft.com/office/officeart/2018/5/layout/IconLeafLabelList"/>
    <dgm:cxn modelId="{F479C202-18DF-407F-A598-3084013F79CC}" type="presParOf" srcId="{2727799B-649A-465B-9FAF-22132782015D}" destId="{6E08956B-4CB6-4A99-A26D-6F46069D80BF}" srcOrd="0" destOrd="0" presId="urn:microsoft.com/office/officeart/2018/5/layout/IconLeafLabelList"/>
    <dgm:cxn modelId="{599E855F-D864-4FC9-9103-A2707CE4A9B1}" type="presParOf" srcId="{2727799B-649A-465B-9FAF-22132782015D}" destId="{6B3561E0-D945-4876-8479-C070418FE003}" srcOrd="1" destOrd="0" presId="urn:microsoft.com/office/officeart/2018/5/layout/IconLeafLabelList"/>
    <dgm:cxn modelId="{DC3BC7F0-B52F-40A9-9BA2-F288D8946128}" type="presParOf" srcId="{2727799B-649A-465B-9FAF-22132782015D}" destId="{5A7081CB-55A5-47C8-B4AA-615B21C0F31C}" srcOrd="2" destOrd="0" presId="urn:microsoft.com/office/officeart/2018/5/layout/IconLeafLabelList"/>
    <dgm:cxn modelId="{71CE0B84-1ACF-4E96-BAA9-B56FBFD71548}" type="presParOf" srcId="{2727799B-649A-465B-9FAF-22132782015D}" destId="{7BF92B2F-BC53-411F-8AE9-D08385F50088}" srcOrd="3" destOrd="0" presId="urn:microsoft.com/office/officeart/2018/5/layout/IconLeafLabelList"/>
    <dgm:cxn modelId="{E06F5829-DEC4-4655-A8A2-8433FB75BD88}" type="presParOf" srcId="{F950A510-2163-4C9C-9CD1-8C80B188B6D5}" destId="{5A44A122-0E6E-4B47-9406-EE93AA6B7CE4}" srcOrd="1" destOrd="0" presId="urn:microsoft.com/office/officeart/2018/5/layout/IconLeafLabelList"/>
    <dgm:cxn modelId="{AFD5E3FF-B977-4768-9229-95EA876DD42C}" type="presParOf" srcId="{F950A510-2163-4C9C-9CD1-8C80B188B6D5}" destId="{101000A6-D0C8-41FD-8452-35A277B0DAEA}" srcOrd="2" destOrd="0" presId="urn:microsoft.com/office/officeart/2018/5/layout/IconLeafLabelList"/>
    <dgm:cxn modelId="{A8292E96-5FBF-4075-9DCF-8BC627720961}" type="presParOf" srcId="{101000A6-D0C8-41FD-8452-35A277B0DAEA}" destId="{4B6E0BD5-3348-414B-A3BE-BCDA3A82995C}" srcOrd="0" destOrd="0" presId="urn:microsoft.com/office/officeart/2018/5/layout/IconLeafLabelList"/>
    <dgm:cxn modelId="{D814D65C-C685-4D9F-886F-5EAA5985D11D}" type="presParOf" srcId="{101000A6-D0C8-41FD-8452-35A277B0DAEA}" destId="{B0CA0026-C4EF-4993-A6A6-8322377B673C}" srcOrd="1" destOrd="0" presId="urn:microsoft.com/office/officeart/2018/5/layout/IconLeafLabelList"/>
    <dgm:cxn modelId="{8993078C-818E-4532-A6D9-16E6265D56DE}" type="presParOf" srcId="{101000A6-D0C8-41FD-8452-35A277B0DAEA}" destId="{4920655E-0F4D-4462-8E0B-4747DED3AEAD}" srcOrd="2" destOrd="0" presId="urn:microsoft.com/office/officeart/2018/5/layout/IconLeafLabelList"/>
    <dgm:cxn modelId="{B865FE45-8B33-438E-BBED-990F9AD50EA3}" type="presParOf" srcId="{101000A6-D0C8-41FD-8452-35A277B0DAEA}" destId="{B0EDA373-0195-4062-8465-A92DEAE97120}" srcOrd="3" destOrd="0" presId="urn:microsoft.com/office/officeart/2018/5/layout/IconLeafLabelList"/>
    <dgm:cxn modelId="{BA1119EA-5550-45B0-BA14-1455AC474F70}" type="presParOf" srcId="{F950A510-2163-4C9C-9CD1-8C80B188B6D5}" destId="{42ABC970-F531-425C-80C0-AEE7C70F4D2B}" srcOrd="3" destOrd="0" presId="urn:microsoft.com/office/officeart/2018/5/layout/IconLeafLabelList"/>
    <dgm:cxn modelId="{7B1BE6E3-D51F-4DF7-A5EB-F3BE2AF26054}" type="presParOf" srcId="{F950A510-2163-4C9C-9CD1-8C80B188B6D5}" destId="{64F60827-D35B-46E8-94B7-44D8EC646323}" srcOrd="4" destOrd="0" presId="urn:microsoft.com/office/officeart/2018/5/layout/IconLeafLabelList"/>
    <dgm:cxn modelId="{359747E8-B8D2-4E19-8446-F2B5804C458B}" type="presParOf" srcId="{64F60827-D35B-46E8-94B7-44D8EC646323}" destId="{90A7EAF5-0475-445C-9131-A4BAE72ABFE0}" srcOrd="0" destOrd="0" presId="urn:microsoft.com/office/officeart/2018/5/layout/IconLeafLabelList"/>
    <dgm:cxn modelId="{817A7BDB-1CE6-47A7-AA7E-86464E8C2755}" type="presParOf" srcId="{64F60827-D35B-46E8-94B7-44D8EC646323}" destId="{C9956029-5A98-4816-BCBA-FA2AF0C382E4}" srcOrd="1" destOrd="0" presId="urn:microsoft.com/office/officeart/2018/5/layout/IconLeafLabelList"/>
    <dgm:cxn modelId="{C34AF30F-CC3B-4614-B9DF-15819870064F}" type="presParOf" srcId="{64F60827-D35B-46E8-94B7-44D8EC646323}" destId="{F936E9AD-00E1-47E4-8EF7-2DFFAD5DB032}" srcOrd="2" destOrd="0" presId="urn:microsoft.com/office/officeart/2018/5/layout/IconLeafLabelList"/>
    <dgm:cxn modelId="{BB2CAFA9-54B6-494D-97D3-76C00673FA54}" type="presParOf" srcId="{64F60827-D35B-46E8-94B7-44D8EC646323}" destId="{BB454E6D-DCA0-4956-BE28-200E01527B6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08956B-4CB6-4A99-A26D-6F46069D80BF}">
      <dsp:nvSpPr>
        <dsp:cNvPr id="0" name=""/>
        <dsp:cNvSpPr/>
      </dsp:nvSpPr>
      <dsp:spPr>
        <a:xfrm>
          <a:off x="518185" y="4314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561E0-D945-4876-8479-C070418FE003}">
      <dsp:nvSpPr>
        <dsp:cNvPr id="0" name=""/>
        <dsp:cNvSpPr/>
      </dsp:nvSpPr>
      <dsp:spPr>
        <a:xfrm>
          <a:off x="832623" y="7458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92B2F-BC53-411F-8AE9-D08385F50088}">
      <dsp:nvSpPr>
        <dsp:cNvPr id="0" name=""/>
        <dsp:cNvSpPr/>
      </dsp:nvSpPr>
      <dsp:spPr>
        <a:xfrm>
          <a:off x="46529" y="2366402"/>
          <a:ext cx="2418750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1. The model successfully transcribes both pre-recorded and real-time audio.</a:t>
          </a:r>
        </a:p>
      </dsp:txBody>
      <dsp:txXfrm>
        <a:off x="46529" y="2366402"/>
        <a:ext cx="2418750" cy="1395000"/>
      </dsp:txXfrm>
    </dsp:sp>
    <dsp:sp modelId="{4B6E0BD5-3348-414B-A3BE-BCDA3A82995C}">
      <dsp:nvSpPr>
        <dsp:cNvPr id="0" name=""/>
        <dsp:cNvSpPr/>
      </dsp:nvSpPr>
      <dsp:spPr>
        <a:xfrm>
          <a:off x="3360216" y="4314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A0026-C4EF-4993-A6A6-8322377B673C}">
      <dsp:nvSpPr>
        <dsp:cNvPr id="0" name=""/>
        <dsp:cNvSpPr/>
      </dsp:nvSpPr>
      <dsp:spPr>
        <a:xfrm>
          <a:off x="3674654" y="7458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DA373-0195-4062-8465-A92DEAE97120}">
      <dsp:nvSpPr>
        <dsp:cNvPr id="0" name=""/>
        <dsp:cNvSpPr/>
      </dsp:nvSpPr>
      <dsp:spPr>
        <a:xfrm>
          <a:off x="2888560" y="2366402"/>
          <a:ext cx="2418750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2. Achieved a Word Error Rate (WER) of less than 10% on test samples.</a:t>
          </a:r>
        </a:p>
      </dsp:txBody>
      <dsp:txXfrm>
        <a:off x="2888560" y="2366402"/>
        <a:ext cx="2418750" cy="1395000"/>
      </dsp:txXfrm>
    </dsp:sp>
    <dsp:sp modelId="{90A7EAF5-0475-445C-9131-A4BAE72ABFE0}">
      <dsp:nvSpPr>
        <dsp:cNvPr id="0" name=""/>
        <dsp:cNvSpPr/>
      </dsp:nvSpPr>
      <dsp:spPr>
        <a:xfrm>
          <a:off x="6202248" y="4314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56029-5A98-4816-BCBA-FA2AF0C382E4}">
      <dsp:nvSpPr>
        <dsp:cNvPr id="0" name=""/>
        <dsp:cNvSpPr/>
      </dsp:nvSpPr>
      <dsp:spPr>
        <a:xfrm>
          <a:off x="6516685" y="7458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54E6D-DCA0-4956-BE28-200E01527B6B}">
      <dsp:nvSpPr>
        <dsp:cNvPr id="0" name=""/>
        <dsp:cNvSpPr/>
      </dsp:nvSpPr>
      <dsp:spPr>
        <a:xfrm>
          <a:off x="5730591" y="2366402"/>
          <a:ext cx="2418750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3. Real-time audio transcription using a microphone shows promising accuracy.</a:t>
          </a:r>
        </a:p>
      </dsp:txBody>
      <dsp:txXfrm>
        <a:off x="5730591" y="2366402"/>
        <a:ext cx="2418750" cy="139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voice.mozilla.org/en/dataset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IN" sz="4200">
                <a:solidFill>
                  <a:srgbClr val="FFFFFF"/>
                </a:solidFill>
              </a:rPr>
              <a:t>Voice and Speech Recognition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Jemi Jose, Vishal Balaji, Puneeth Batchu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Voice and speech recognition technology converts spoken language into text. It has applications in transcription, virtual assistants, and more. This project leverages advanced models to build a speech-to-text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The objective of this project is to develop an application that accurately converts spoken language into text using state-of-the-art voice recognition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6" y="381360"/>
            <a:ext cx="4083287" cy="1402470"/>
          </a:xfrm>
        </p:spPr>
        <p:txBody>
          <a:bodyPr anchor="t">
            <a:normAutofit/>
          </a:bodyPr>
          <a:lstStyle/>
          <a:p>
            <a:pPr algn="l"/>
            <a:r>
              <a:rPr lang="en-IN" sz="2800" dirty="0"/>
              <a:t>Methodology</a:t>
            </a:r>
          </a:p>
        </p:txBody>
      </p:sp>
      <p:pic>
        <p:nvPicPr>
          <p:cNvPr id="14" name="Picture 13" descr="Computer script on a screen">
            <a:extLst>
              <a:ext uri="{FF2B5EF4-FFF2-40B4-BE49-F238E27FC236}">
                <a16:creationId xmlns:a16="http://schemas.microsoft.com/office/drawing/2014/main" id="{206E4747-C2D6-A482-5882-72DAE915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12" r="51085" b="-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6" y="1423672"/>
            <a:ext cx="4083287" cy="4572000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IN" sz="1600" b="1" dirty="0"/>
              <a:t>Data Collection</a:t>
            </a:r>
            <a:r>
              <a:rPr lang="en-IN" sz="1600" dirty="0"/>
              <a:t>: Utilized the Common Voice Dataset by Mozilla, accessed from </a:t>
            </a:r>
            <a:r>
              <a:rPr lang="en-IN" sz="1600" dirty="0">
                <a:hlinkClick r:id="rId3"/>
              </a:rPr>
              <a:t>Common Voice Dataset</a:t>
            </a:r>
            <a:r>
              <a:rPr lang="en-IN" sz="1600" dirty="0"/>
              <a:t>.</a:t>
            </a:r>
          </a:p>
          <a:p>
            <a:pPr algn="just">
              <a:buFont typeface="+mj-lt"/>
              <a:buAutoNum type="arabicPeriod"/>
            </a:pPr>
            <a:r>
              <a:rPr lang="en-IN" sz="1600" b="1" dirty="0"/>
              <a:t>Preprocessing</a:t>
            </a:r>
            <a:r>
              <a:rPr lang="en-IN" sz="1600" dirty="0"/>
              <a:t>: Converted audio files to WAV format, applied normalization, noise reduction, and silence trimming.</a:t>
            </a:r>
          </a:p>
          <a:p>
            <a:pPr algn="just">
              <a:buFont typeface="+mj-lt"/>
              <a:buAutoNum type="arabicPeriod"/>
            </a:pPr>
            <a:r>
              <a:rPr lang="en-IN" sz="1600" b="1" dirty="0"/>
              <a:t>Model Selection</a:t>
            </a:r>
            <a:r>
              <a:rPr lang="en-IN" sz="1600" dirty="0"/>
              <a:t>: Selected Wav2Vec2 for speech recognition due to its self-supervised learning from raw audio, reduced need for </a:t>
            </a:r>
            <a:r>
              <a:rPr lang="en-IN" sz="1600" dirty="0" err="1"/>
              <a:t>labeled</a:t>
            </a:r>
            <a:r>
              <a:rPr lang="en-IN" sz="1600" dirty="0"/>
              <a:t> data, and high accuracy, making it ideal for our project.</a:t>
            </a:r>
          </a:p>
          <a:p>
            <a:pPr algn="just">
              <a:buFont typeface="+mj-lt"/>
              <a:buAutoNum type="arabicPeriod"/>
            </a:pPr>
            <a:r>
              <a:rPr lang="en-IN" sz="1600" b="1" dirty="0"/>
              <a:t>Implementation</a:t>
            </a:r>
            <a:r>
              <a:rPr lang="en-IN" sz="1600" dirty="0"/>
              <a:t>: </a:t>
            </a:r>
          </a:p>
          <a:p>
            <a:pPr marL="0" indent="0" algn="just">
              <a:buNone/>
            </a:pPr>
            <a:r>
              <a:rPr lang="en-IN" sz="1600" dirty="0"/>
              <a:t>        Libraries: </a:t>
            </a:r>
            <a:r>
              <a:rPr lang="en-IN" sz="1600" dirty="0" err="1"/>
              <a:t>Librosa</a:t>
            </a:r>
            <a:r>
              <a:rPr lang="en-IN" sz="1600" dirty="0"/>
              <a:t> (audio processing),    Transformers (model integration), </a:t>
            </a:r>
            <a:r>
              <a:rPr lang="en-IN" sz="1600" dirty="0" err="1"/>
              <a:t>PyTorch</a:t>
            </a:r>
            <a:r>
              <a:rPr lang="en-IN" sz="1600" dirty="0"/>
              <a:t> (neural network fine-tuning).</a:t>
            </a:r>
          </a:p>
          <a:p>
            <a:pPr marL="0" indent="0" algn="just">
              <a:buNone/>
            </a:pPr>
            <a:r>
              <a:rPr lang="en-IN" sz="1600" b="1" dirty="0"/>
              <a:t>5.    Evaluation</a:t>
            </a:r>
            <a:r>
              <a:rPr lang="en-IN" sz="1600" dirty="0"/>
              <a:t>: Assessed with Word Error Rate (WER), including accuracy and real-time performance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FDB5E-A84B-DF9F-D6DB-34465C14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F00AF63E-DD64-D438-F995-C7D32B9A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A8AE6A4-3AF7-736B-2EE0-D0C819E75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DB3F854-06B0-1060-C5DE-115F68A13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CA273B7-E431-A015-97EB-2EA343F44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CF8EB61-B856-EEF8-6B3B-7700AD57E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FDCBAB6-FA9B-CCBD-1E62-E0DE5D44B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98FE6-FAC5-F665-C6DF-A5A79FDD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 dirty="0">
                <a:solidFill>
                  <a:srgbClr val="FFFFFF"/>
                </a:solidFill>
              </a:rPr>
              <a:t>Challenges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1760F-BB06-E651-845A-7E94EBBAC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368" y="1007184"/>
            <a:ext cx="3646835" cy="5349167"/>
          </a:xfrm>
        </p:spPr>
        <p:txBody>
          <a:bodyPr anchor="ctr"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/>
              <a:t>Noise Interference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Inconsistent Accents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/>
              <a:t>Real-Time Processing Lag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885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E803B-A90B-A3FB-920D-EAB91CD24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C583EC5B-4DF2-F712-73BF-A3F6EB8B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B573230-AD14-1330-CB3E-2E8DEB49B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2D3B62E-94E9-EDDA-EE71-C7D5A010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2A7A21D-9382-12C6-803A-0B2C0C309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CF7B9A9-89DE-9F38-29FB-FBFC9FC3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9991834-9E16-AD93-28B3-274682622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65D98A-81D7-B94B-2344-5F177728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 dirty="0">
                <a:solidFill>
                  <a:srgbClr val="FFFFFF"/>
                </a:solidFill>
              </a:rPr>
              <a:t>Noise Interference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2524-F649-1196-ED67-4525370D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166" y="846360"/>
            <a:ext cx="3646835" cy="5349167"/>
          </a:xfrm>
        </p:spPr>
        <p:txBody>
          <a:bodyPr anchor="ctr">
            <a:normAutofit fontScale="85000"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/>
              <a:t>Spectral Gating: Reduces stationary noise (like hum) by subtracting noise spectrum from the audio. Effective for constant background sounds.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Voice Activity Detection (VAD): Detects speech segments and discards non-speech parts, minimizing background noise.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Filtering Techniques: Uses low-pass and high-pass filters to eliminate high-frequency hisses and low-frequency hums, respectively.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Speech Enhancement with Deep Learning: Leverages fine-tuned models like Wav2Vec2 to learn and suppress noise, effective for complex sounds.</a:t>
            </a:r>
          </a:p>
          <a:p>
            <a:pPr marL="0" indent="0" algn="just">
              <a:buNone/>
            </a:pPr>
            <a:endParaRPr lang="en-US" sz="1200" dirty="0"/>
          </a:p>
          <a:p>
            <a:pPr marL="0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201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F0166-87C4-269B-A444-77B246B3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3174E6A6-AA20-5C85-F2FC-37CA9230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2F6F728-37B0-88DF-DE41-7B817904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0208E52-B6D0-D1A5-A358-A05A2C293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82C50B-5849-3BB5-1640-8B8A9CFC6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4727168-6094-ADBB-5400-69D4DA2EC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6DEC946-AF9B-D152-3198-99B6CC748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F6EB7-9C6C-B1AF-7110-5F61AEFC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 dirty="0">
                <a:solidFill>
                  <a:srgbClr val="FFFFFF"/>
                </a:solidFill>
              </a:rPr>
              <a:t>Inconsistent Accents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9A60-172A-CEBC-3959-0B7F630E6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000" y="613064"/>
            <a:ext cx="3646835" cy="534916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endParaRPr lang="en-US" sz="12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Problem: Models struggle with inconsistent accents, leading to poor transcription accuracy.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Solution: Augment training data with diverse accent samples from datasets like Common Voice or by simulating accents using pitch and speed variations.</a:t>
            </a:r>
          </a:p>
        </p:txBody>
      </p:sp>
    </p:spTree>
    <p:extLst>
      <p:ext uri="{BB962C8B-B14F-4D97-AF65-F5344CB8AC3E}">
        <p14:creationId xmlns:p14="http://schemas.microsoft.com/office/powerpoint/2010/main" val="273113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2D959-348E-18A1-E2F8-31B0975E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764F3B94-56DF-A422-6E3F-40F6113B3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8D22947-037A-149F-A9C0-4B1605768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48DFE7B-9523-3FE3-80B4-A4922B3BE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3EAD6C7-7AA1-0993-3824-9BB354753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6F54903-849B-29D0-EFE5-4E960A2E2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B4B2962-23EB-C1AB-60F3-A0F1852C6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D35E7-B774-F288-03C5-8298D531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 dirty="0">
                <a:solidFill>
                  <a:srgbClr val="FFFFFF"/>
                </a:solidFill>
              </a:rPr>
              <a:t>Real-Time Processing 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945B-FE70-A357-1C0D-6E6A5D92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000" y="613064"/>
            <a:ext cx="3646835" cy="5349167"/>
          </a:xfrm>
        </p:spPr>
        <p:txBody>
          <a:bodyPr anchor="ctr">
            <a:normAutofit fontScale="92500" lnSpcReduction="20000"/>
          </a:bodyPr>
          <a:lstStyle/>
          <a:p>
            <a:pPr marL="0" indent="0" algn="just">
              <a:buNone/>
            </a:pPr>
            <a:endParaRPr lang="en-US" sz="12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Problem: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Real-time voice recognition can experience lag due to the model's high computational demands and slow audio processing.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algn="just">
              <a:buFont typeface="Wingdings" pitchFamily="2" charset="2"/>
              <a:buChar char="Ø"/>
            </a:pPr>
            <a:r>
              <a:rPr lang="en-US" sz="2000" dirty="0"/>
              <a:t>Solution: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/>
          </a:p>
          <a:p>
            <a:pPr algn="just">
              <a:buFont typeface="Wingdings" pitchFamily="2" charset="2"/>
              <a:buChar char="§"/>
            </a:pPr>
            <a:r>
              <a:rPr lang="en-US" sz="2000" dirty="0"/>
              <a:t>Model Optimization: Use lightweight models (like Wav2Vec2-base) and quantization to reduce inference time.</a:t>
            </a:r>
          </a:p>
          <a:p>
            <a:pPr algn="just">
              <a:buFont typeface="Wingdings" pitchFamily="2" charset="2"/>
              <a:buChar char="§"/>
            </a:pPr>
            <a:endParaRPr lang="en-US" sz="2000" dirty="0"/>
          </a:p>
          <a:p>
            <a:pPr algn="just">
              <a:buFont typeface="Wingdings" pitchFamily="2" charset="2"/>
              <a:buChar char="§"/>
            </a:pPr>
            <a:r>
              <a:rPr lang="en-US" sz="2000" dirty="0"/>
              <a:t>Batch Processing: Process audio in small chunks instead of full recordings to maintain low latency.</a:t>
            </a:r>
          </a:p>
        </p:txBody>
      </p:sp>
    </p:spTree>
    <p:extLst>
      <p:ext uri="{BB962C8B-B14F-4D97-AF65-F5344CB8AC3E}">
        <p14:creationId xmlns:p14="http://schemas.microsoft.com/office/powerpoint/2010/main" val="252229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F5D023-C8FE-102E-27EB-1DA2C2CF6C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62782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dirty="0"/>
              <a:t>The project successfully demonstrates voice and speech recognition using Wav2Vec2. The model accurately transcribes both recorded and real-time audio. Future improvements could include fine-tuning the model for specific accents and reducing latency.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455</Words>
  <Application>Microsoft Macintosh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Voice and Speech Recognition</vt:lpstr>
      <vt:lpstr>Introduction</vt:lpstr>
      <vt:lpstr>Objective</vt:lpstr>
      <vt:lpstr>Methodology</vt:lpstr>
      <vt:lpstr>Challenges and Solutions</vt:lpstr>
      <vt:lpstr>Noise Interference</vt:lpstr>
      <vt:lpstr>Inconsistent Accents</vt:lpstr>
      <vt:lpstr>Real-Time Processing Lag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Balaji [student]</cp:lastModifiedBy>
  <cp:revision>5</cp:revision>
  <dcterms:created xsi:type="dcterms:W3CDTF">2013-01-27T09:14:16Z</dcterms:created>
  <dcterms:modified xsi:type="dcterms:W3CDTF">2025-05-13T23:07:20Z</dcterms:modified>
  <cp:category/>
</cp:coreProperties>
</file>